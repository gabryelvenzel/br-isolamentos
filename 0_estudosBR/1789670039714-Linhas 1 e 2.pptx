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ÓRUM 16/07/2026" id="{90221CB7-2338-4EDC-BCB9-90560E3B3A5B}">
          <p14:sldIdLst/>
        </p14:section>
        <p14:section name="CONSTRUÇÃO" id="{7C038B8A-6346-4AF4-A807-49DBFBF2BA3E}">
          <p14:sldIdLst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29308-183F-45E2-9277-8DB4EEAFA8F3}" v="3" dt="2026-08-20T13:46:24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D6AFA-6A77-0F31-6BCD-FEEC84C0C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0215CE-4CDE-B46A-2F59-DC89AF3AF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15961E-5A6A-B86A-FBB4-DCF590C1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45B09C-8E1C-96BA-1551-BD04ACD4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771772-55B0-56D5-6D86-3385D241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6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93CF8-EE8B-588B-12E1-51679E39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425CDA-D96F-2282-D6A9-DC592BAB3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3DB8C1-5A8C-AF27-0CAB-2ED65E76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66D1B5-7617-3069-FD0F-AC1BE6256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A966EC-21B0-C485-F0D4-7C294154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68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4E97B-E6E1-ECFE-62D6-6D66BB44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7D9A4A-7750-745D-F687-96B445CC5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9D365D-DB56-157B-9BC5-DEA300EB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4ED1AD-80A9-81BA-A497-A5340EA4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A9AC7D-195C-5DC0-72D2-6A9BC6F7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00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B69DE-C69E-790A-E284-48FB734B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020196-8BF6-A53D-AA54-5A0D7CE71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3DFF77-BD12-9695-E057-E8FD53FC2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43E464-D168-52DC-FDF8-561747DB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D20324-55AD-551F-C83E-F67D344A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095813-FBD6-E12A-4CE5-3E2BCA079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57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B4F3E-3B9F-0713-E656-06AD76156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20A08-FFE6-CF21-992B-F839DD597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F90CD7-26A1-3EFD-3B52-6D979F137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CA6AAA-B7CF-3EE4-8B3A-D1FA9D536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6F26BE-6B7C-FA56-3EFD-2A76F9F45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1D1E963-821B-E21B-EA91-34AF21A09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D51AF8-BEFA-3085-0EA4-3AC4F6E1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42AFBF-9387-38D2-AE3D-5538C913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3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AB428-E221-3E31-DC02-79A869CB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39A9CDE-0641-A613-BF6B-94B44A6E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2C54D5-A154-9153-1034-AC0384D49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F8F73F-375C-7FD1-EB1E-7FD311FC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858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6B5931-691E-CAD3-BE6B-472C379B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C87239-A278-2CE7-1618-83F96C4D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1FC947-4EEB-20A8-8350-40B51C6D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76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924D1-760B-C8FC-E9D1-DB119F933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10942E-723A-5C34-716C-17BE3F354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671C64-CA88-854A-1306-04827604A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3A8177-F7AF-F367-A1CB-40896EEE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1152F9-F218-ED82-8337-A8DFFD4A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30A086-8C74-FF2A-6ED3-A700BFF7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91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45525-2C75-6F84-7535-754020FC6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1F945CC-C6BD-741E-1AF5-821C1197D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2B2F70-1DE8-069D-EE27-BE86BB536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3747C1-2266-2A83-188B-394006DD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B84B60-B353-6581-8A4A-1262EBD2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FBEB36-F68C-1310-0676-0F427693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711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60774-EB64-6584-B313-9A2BB006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C2452C-CD0C-7D62-FD7E-EB8663660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8C16D7-F015-7F59-5A15-2DD96B17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30F9F2-EC72-270E-A800-2B1E6166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134CF1-A509-AD69-9821-2C84F880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07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2383F9-6E0B-23C0-B6A8-77AB19F07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BE53A8-DADD-49CE-C282-D451C5067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F4EA92-F6A0-EBA5-7F3E-96AF27E3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72BD7A-A8DD-5BA5-1987-D7832B48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BA6D70-D27C-E3FF-CA14-0562457C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69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2E0FD34-D3C6-708E-F86D-B814DF4C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BEC596-6CF4-7421-6B94-4EFEA14A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460FB0-E33D-5DAB-43FB-E97533B03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47FA8-23A5-4253-A5E4-777018109E8C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7867A3-DA48-F822-32D5-ABBCE354B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82AE83-895F-D686-1607-E50ED5969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E38CF-C40B-4D11-A479-89806296C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36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2BB51-9F8C-E80C-9B65-6D538A591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974"/>
            <a:ext cx="10515600" cy="843797"/>
          </a:xfrm>
        </p:spPr>
        <p:txBody>
          <a:bodyPr/>
          <a:lstStyle/>
          <a:p>
            <a:r>
              <a:rPr lang="pt-BR" dirty="0"/>
              <a:t>Levantamentos de campo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9B98BD4-017C-73AA-6CA4-8502C09E1EB9}"/>
              </a:ext>
            </a:extLst>
          </p:cNvPr>
          <p:cNvGrpSpPr/>
          <p:nvPr/>
        </p:nvGrpSpPr>
        <p:grpSpPr>
          <a:xfrm>
            <a:off x="6510528" y="1481328"/>
            <a:ext cx="5294376" cy="4946904"/>
            <a:chOff x="6903720" y="1981954"/>
            <a:chExt cx="4635525" cy="416344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3FF7818-5D36-C0CD-DAE2-3B2AC8A81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3720" y="1981954"/>
              <a:ext cx="4635525" cy="4163449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7FFD0679-E170-48FD-A1D9-A78B32A1FD2C}"/>
                </a:ext>
              </a:extLst>
            </p:cNvPr>
            <p:cNvSpPr/>
            <p:nvPr/>
          </p:nvSpPr>
          <p:spPr>
            <a:xfrm>
              <a:off x="8540496" y="3337560"/>
              <a:ext cx="219456" cy="18288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600B7F2C-5504-5C07-F610-30F91CAEC520}"/>
                </a:ext>
              </a:extLst>
            </p:cNvPr>
            <p:cNvCxnSpPr/>
            <p:nvPr/>
          </p:nvCxnSpPr>
          <p:spPr>
            <a:xfrm flipH="1">
              <a:off x="8247888" y="3520440"/>
              <a:ext cx="402336" cy="110642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FCAE4E1C-A0C4-876E-51B6-7334311F85FE}"/>
                </a:ext>
              </a:extLst>
            </p:cNvPr>
            <p:cNvCxnSpPr>
              <a:cxnSpLocks/>
              <a:endCxn id="11" idx="7"/>
            </p:cNvCxnSpPr>
            <p:nvPr/>
          </p:nvCxnSpPr>
          <p:spPr>
            <a:xfrm flipH="1">
              <a:off x="8060301" y="4626864"/>
              <a:ext cx="187587" cy="499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E15DE867-8F1C-B7B9-D9FC-3F3F5981E4DF}"/>
                </a:ext>
              </a:extLst>
            </p:cNvPr>
            <p:cNvSpPr/>
            <p:nvPr/>
          </p:nvSpPr>
          <p:spPr>
            <a:xfrm>
              <a:off x="7872984" y="4650041"/>
              <a:ext cx="219456" cy="18288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EE84BF3-0289-541D-C723-5E898EB31B3F}"/>
                </a:ext>
              </a:extLst>
            </p:cNvPr>
            <p:cNvSpPr/>
            <p:nvPr/>
          </p:nvSpPr>
          <p:spPr>
            <a:xfrm>
              <a:off x="9052560" y="3447288"/>
              <a:ext cx="219456" cy="182880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BF4B9CC-8373-EF56-5629-EFCD0C7026EF}"/>
                </a:ext>
              </a:extLst>
            </p:cNvPr>
            <p:cNvSpPr/>
            <p:nvPr/>
          </p:nvSpPr>
          <p:spPr>
            <a:xfrm>
              <a:off x="7763256" y="5785104"/>
              <a:ext cx="219456" cy="182880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7661911A-F2B1-8371-B5D8-710B800E310B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 flipH="1">
              <a:off x="8385048" y="3630168"/>
              <a:ext cx="777240" cy="996696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D4BE6F66-B013-0F19-AEDA-34B7D3EED8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6468" y="4604004"/>
              <a:ext cx="68580" cy="136398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0191E95A-41FF-A4D5-6281-74532D7FC261}"/>
                </a:ext>
              </a:extLst>
            </p:cNvPr>
            <p:cNvCxnSpPr>
              <a:cxnSpLocks/>
            </p:cNvCxnSpPr>
            <p:nvPr/>
          </p:nvCxnSpPr>
          <p:spPr>
            <a:xfrm>
              <a:off x="7872984" y="5967984"/>
              <a:ext cx="443484" cy="2317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194C4EC5-50F6-F24F-7363-1D8E1335E6CA}"/>
                </a:ext>
              </a:extLst>
            </p:cNvPr>
            <p:cNvSpPr/>
            <p:nvPr/>
          </p:nvSpPr>
          <p:spPr>
            <a:xfrm>
              <a:off x="8019288" y="3051652"/>
              <a:ext cx="95333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>
                  <a:solidFill>
                    <a:srgbClr val="FF0000"/>
                  </a:solidFill>
                </a:rPr>
                <a:t>Fornos 01 e 02</a:t>
              </a: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EC0CDCE2-BF35-713B-C7B6-8FEC864F1537}"/>
                </a:ext>
              </a:extLst>
            </p:cNvPr>
            <p:cNvSpPr/>
            <p:nvPr/>
          </p:nvSpPr>
          <p:spPr>
            <a:xfrm>
              <a:off x="9162288" y="3190154"/>
              <a:ext cx="953330" cy="1828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>
                  <a:solidFill>
                    <a:srgbClr val="0070C0"/>
                  </a:solidFill>
                </a:rPr>
                <a:t>Fornos 03 e 04</a:t>
              </a:r>
            </a:p>
          </p:txBody>
        </p:sp>
      </p:grpSp>
      <p:sp>
        <p:nvSpPr>
          <p:cNvPr id="25" name="Subtítulo 2">
            <a:extLst>
              <a:ext uri="{FF2B5EF4-FFF2-40B4-BE49-F238E27FC236}">
                <a16:creationId xmlns:a16="http://schemas.microsoft.com/office/drawing/2014/main" id="{2630B9F3-DC96-4E8C-86CA-D4138AF0DE34}"/>
              </a:ext>
            </a:extLst>
          </p:cNvPr>
          <p:cNvSpPr txBox="1">
            <a:spLocks/>
          </p:cNvSpPr>
          <p:nvPr/>
        </p:nvSpPr>
        <p:spPr>
          <a:xfrm>
            <a:off x="171771" y="1280160"/>
            <a:ext cx="6004560" cy="53918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/>
            <a:r>
              <a:rPr lang="pt-BR" sz="1200" dirty="0"/>
              <a:t>Comprimento e diâmetro da tubulação de ar:</a:t>
            </a:r>
          </a:p>
          <a:p>
            <a:pPr marL="800100" lvl="1" indent="-342900" algn="just"/>
            <a:r>
              <a:rPr lang="pt-BR" sz="1200" dirty="0"/>
              <a:t>Linha 01</a:t>
            </a:r>
            <a:r>
              <a:rPr lang="pt-BR" sz="1200" dirty="0">
                <a:solidFill>
                  <a:srgbClr val="FF0000"/>
                </a:solidFill>
              </a:rPr>
              <a:t>: 45 metros de </a:t>
            </a: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ø 8”</a:t>
            </a:r>
            <a:endParaRPr lang="pt-BR" sz="1200" dirty="0">
              <a:solidFill>
                <a:srgbClr val="FF0000"/>
              </a:solidFill>
            </a:endParaRPr>
          </a:p>
          <a:p>
            <a:pPr marL="800100" lvl="1" indent="-342900" algn="just"/>
            <a:r>
              <a:rPr lang="pt-BR" sz="1200" dirty="0"/>
              <a:t>Linha 02: </a:t>
            </a:r>
            <a:r>
              <a:rPr lang="pt-BR" sz="1200" dirty="0">
                <a:solidFill>
                  <a:srgbClr val="FF0000"/>
                </a:solidFill>
              </a:rPr>
              <a:t>: 65 metros de </a:t>
            </a: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ø 8”</a:t>
            </a:r>
            <a:endParaRPr lang="pt-BR" sz="1200" dirty="0"/>
          </a:p>
          <a:p>
            <a:pPr marL="342900" indent="-342900" algn="just"/>
            <a:r>
              <a:rPr lang="pt-BR" sz="1200" dirty="0"/>
              <a:t>Comprimento com e sem isolamento térmico:</a:t>
            </a:r>
          </a:p>
          <a:p>
            <a:pPr marL="800100" lvl="1" indent="-342900" algn="just"/>
            <a:r>
              <a:rPr lang="pt-BR" sz="1200" dirty="0"/>
              <a:t>Maior parte da tubulação (95%) com isolamento térmico. Apenas as saídas dos Fornos sem isolamento/isolamento danificado</a:t>
            </a:r>
          </a:p>
          <a:p>
            <a:pPr marL="342900" indent="-342900" algn="just"/>
            <a:r>
              <a:rPr lang="pt-BR" sz="1200" dirty="0"/>
              <a:t>Temperatura na superfície do isolamento e na superfície do tubo não isolado:</a:t>
            </a:r>
          </a:p>
          <a:p>
            <a:pPr marL="800100" lvl="1" indent="-342900" algn="just"/>
            <a:r>
              <a:rPr lang="pt-BR" sz="1200" dirty="0"/>
              <a:t>Entre 20 e  50°C</a:t>
            </a:r>
          </a:p>
          <a:p>
            <a:pPr marL="342900" indent="-342900" algn="just"/>
            <a:r>
              <a:rPr lang="pt-BR" sz="1200" dirty="0"/>
              <a:t>Avaliar com termográfica para avaliar se a temperatura é a mesma ao longo do trecho:</a:t>
            </a:r>
          </a:p>
          <a:p>
            <a:pPr marL="800100" lvl="1" indent="-342900" algn="just"/>
            <a:r>
              <a:rPr lang="pt-BR" sz="1200" dirty="0"/>
              <a:t>Em experimentos em campo, a temperatura do isolamento térmico não é a mesma ao longo do trecho. Ocorrem variações.</a:t>
            </a:r>
          </a:p>
          <a:p>
            <a:pPr marL="342900" indent="-342900" algn="just"/>
            <a:r>
              <a:rPr lang="pt-BR" sz="1200" dirty="0"/>
              <a:t>Pegar informação de comprimento da tubulação em áreas fechadas e em áreas abertas:</a:t>
            </a:r>
          </a:p>
          <a:p>
            <a:pPr marL="800100" lvl="1" indent="-342900" algn="just"/>
            <a:r>
              <a:rPr lang="pt-BR" sz="1200" dirty="0"/>
              <a:t>Tubulação em ares fechadas: aproximadamente 10m para cada linha</a:t>
            </a:r>
          </a:p>
          <a:p>
            <a:pPr marL="342900" indent="-342900" algn="just"/>
            <a:r>
              <a:rPr lang="pt-BR" sz="1200" dirty="0"/>
              <a:t>Temperatura do processo:</a:t>
            </a:r>
          </a:p>
          <a:p>
            <a:pPr marL="800100" lvl="1" indent="-342900" algn="just"/>
            <a:r>
              <a:rPr lang="pt-BR" sz="1200" dirty="0"/>
              <a:t>Linha 01 :</a:t>
            </a:r>
          </a:p>
          <a:p>
            <a:pPr marL="1257300" lvl="2" indent="-342900" algn="just"/>
            <a:r>
              <a:rPr lang="pt-BR" sz="1200" dirty="0"/>
              <a:t>Saida dos fornos: 380 °C</a:t>
            </a:r>
          </a:p>
          <a:p>
            <a:pPr marL="1257300" lvl="2" indent="-342900" algn="just"/>
            <a:r>
              <a:rPr lang="pt-BR" sz="1200" dirty="0"/>
              <a:t>Entrada dos sprays: 350 °C</a:t>
            </a:r>
          </a:p>
          <a:p>
            <a:pPr marL="1257300" lvl="2" indent="-342900" algn="just"/>
            <a:r>
              <a:rPr lang="pt-BR" sz="1200" dirty="0"/>
              <a:t>Perca térmica:</a:t>
            </a:r>
            <a:r>
              <a:rPr lang="pt-BR" sz="1200" dirty="0">
                <a:solidFill>
                  <a:srgbClr val="FF0000"/>
                </a:solidFill>
              </a:rPr>
              <a:t>  30 °C</a:t>
            </a:r>
          </a:p>
          <a:p>
            <a:pPr marL="800100" lvl="1" indent="-342900" algn="just"/>
            <a:r>
              <a:rPr lang="pt-BR" sz="1200" dirty="0"/>
              <a:t>Linha 02: </a:t>
            </a:r>
          </a:p>
          <a:p>
            <a:pPr marL="1257300" lvl="2" indent="-342900" algn="just"/>
            <a:r>
              <a:rPr lang="pt-BR" sz="1200" dirty="0"/>
              <a:t>Saida dos fornos: 325 °C</a:t>
            </a:r>
          </a:p>
          <a:p>
            <a:pPr marL="1257300" lvl="2" indent="-342900" algn="just"/>
            <a:r>
              <a:rPr lang="pt-BR" sz="1200" dirty="0"/>
              <a:t>Entrada dos sprays: 290 °C</a:t>
            </a:r>
          </a:p>
          <a:p>
            <a:pPr marL="1257300" lvl="2" indent="-342900" algn="just"/>
            <a:r>
              <a:rPr lang="pt-BR" sz="1200" dirty="0"/>
              <a:t>Perca térmica:</a:t>
            </a:r>
            <a:r>
              <a:rPr lang="pt-BR" sz="1200" dirty="0">
                <a:solidFill>
                  <a:srgbClr val="FF0000"/>
                </a:solidFill>
              </a:rPr>
              <a:t>  35°C</a:t>
            </a:r>
          </a:p>
          <a:p>
            <a:pPr marL="914400" lvl="2" indent="0" algn="just">
              <a:buNone/>
            </a:pPr>
            <a:endParaRPr lang="pt-BR" sz="800" dirty="0">
              <a:solidFill>
                <a:srgbClr val="FF0000"/>
              </a:solidFill>
            </a:endParaRPr>
          </a:p>
          <a:p>
            <a:pPr marL="800100" lvl="1" indent="-342900" algn="just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9973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D69C7-14A5-47AA-CCE5-F061150F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DE962-6772-ABB1-F321-3F72E231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974"/>
            <a:ext cx="10515600" cy="843797"/>
          </a:xfrm>
        </p:spPr>
        <p:txBody>
          <a:bodyPr/>
          <a:lstStyle/>
          <a:p>
            <a:r>
              <a:rPr lang="pt-BR" dirty="0"/>
              <a:t>Levantamentos de campo</a:t>
            </a:r>
          </a:p>
        </p:txBody>
      </p:sp>
      <p:pic>
        <p:nvPicPr>
          <p:cNvPr id="4" name="Imagem 3" descr="Uma imagem contendo no interior, metal, grande, trem&#10;&#10;O conteúdo gerado por IA pode estar incorreto.">
            <a:extLst>
              <a:ext uri="{FF2B5EF4-FFF2-40B4-BE49-F238E27FC236}">
                <a16:creationId xmlns:a16="http://schemas.microsoft.com/office/drawing/2014/main" id="{74B069C0-556A-6319-DB8C-55D2969A3A3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2" y="2081664"/>
            <a:ext cx="2911843" cy="3882457"/>
          </a:xfrm>
          <a:prstGeom prst="rect">
            <a:avLst/>
          </a:prstGeom>
        </p:spPr>
      </p:pic>
      <p:sp>
        <p:nvSpPr>
          <p:cNvPr id="12" name="Seta: Dobrada 11">
            <a:extLst>
              <a:ext uri="{FF2B5EF4-FFF2-40B4-BE49-F238E27FC236}">
                <a16:creationId xmlns:a16="http://schemas.microsoft.com/office/drawing/2014/main" id="{FC91327A-E341-8A02-5B3C-FDD88DC60068}"/>
              </a:ext>
            </a:extLst>
          </p:cNvPr>
          <p:cNvSpPr/>
          <p:nvPr/>
        </p:nvSpPr>
        <p:spPr>
          <a:xfrm>
            <a:off x="1051560" y="4132620"/>
            <a:ext cx="356616" cy="34289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Seta: Dobrada 15">
            <a:extLst>
              <a:ext uri="{FF2B5EF4-FFF2-40B4-BE49-F238E27FC236}">
                <a16:creationId xmlns:a16="http://schemas.microsoft.com/office/drawing/2014/main" id="{7102EC52-BD01-7694-A1D1-2150CD50E5EB}"/>
              </a:ext>
            </a:extLst>
          </p:cNvPr>
          <p:cNvSpPr/>
          <p:nvPr/>
        </p:nvSpPr>
        <p:spPr>
          <a:xfrm rot="10800000" flipV="1">
            <a:off x="1533403" y="4144983"/>
            <a:ext cx="356615" cy="34289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17821430-B89C-F254-7840-BEC95418371B}"/>
              </a:ext>
            </a:extLst>
          </p:cNvPr>
          <p:cNvSpPr/>
          <p:nvPr/>
        </p:nvSpPr>
        <p:spPr>
          <a:xfrm rot="10800000">
            <a:off x="1292482" y="2644018"/>
            <a:ext cx="356615" cy="1536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Torre de um prédio&#10;&#10;O conteúdo gerado por IA pode estar incorreto.">
            <a:extLst>
              <a:ext uri="{FF2B5EF4-FFF2-40B4-BE49-F238E27FC236}">
                <a16:creationId xmlns:a16="http://schemas.microsoft.com/office/drawing/2014/main" id="{2A44D55B-ED60-7C3D-67DF-41DD77735B7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123" y="2081664"/>
            <a:ext cx="2833878" cy="3882457"/>
          </a:xfrm>
          <a:prstGeom prst="rect">
            <a:avLst/>
          </a:prstGeom>
        </p:spPr>
      </p:pic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66DECBF6-8A3D-453A-806B-D920B7C585D7}"/>
              </a:ext>
            </a:extLst>
          </p:cNvPr>
          <p:cNvSpPr/>
          <p:nvPr/>
        </p:nvSpPr>
        <p:spPr>
          <a:xfrm>
            <a:off x="3077949" y="3919792"/>
            <a:ext cx="291549" cy="2061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: para Baixo 26">
            <a:extLst>
              <a:ext uri="{FF2B5EF4-FFF2-40B4-BE49-F238E27FC236}">
                <a16:creationId xmlns:a16="http://schemas.microsoft.com/office/drawing/2014/main" id="{C946E86E-13B3-AA2C-F499-DAE178944ADA}"/>
              </a:ext>
            </a:extLst>
          </p:cNvPr>
          <p:cNvSpPr/>
          <p:nvPr/>
        </p:nvSpPr>
        <p:spPr>
          <a:xfrm rot="4775320">
            <a:off x="5052698" y="3553105"/>
            <a:ext cx="203491" cy="1536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Motor de avião&#10;&#10;O conteúdo gerado por IA pode estar incorreto.">
            <a:extLst>
              <a:ext uri="{FF2B5EF4-FFF2-40B4-BE49-F238E27FC236}">
                <a16:creationId xmlns:a16="http://schemas.microsoft.com/office/drawing/2014/main" id="{8C7E5FFF-1F81-A18B-55B6-83C907650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764" y="2118707"/>
            <a:ext cx="5176610" cy="3882457"/>
          </a:xfrm>
          <a:prstGeom prst="rect">
            <a:avLst/>
          </a:prstGeom>
        </p:spPr>
      </p:pic>
      <p:sp>
        <p:nvSpPr>
          <p:cNvPr id="32" name="Seta: para a Direita 31">
            <a:extLst>
              <a:ext uri="{FF2B5EF4-FFF2-40B4-BE49-F238E27FC236}">
                <a16:creationId xmlns:a16="http://schemas.microsoft.com/office/drawing/2014/main" id="{52862520-B25A-E852-05BF-C7B737E7CFA2}"/>
              </a:ext>
            </a:extLst>
          </p:cNvPr>
          <p:cNvSpPr/>
          <p:nvPr/>
        </p:nvSpPr>
        <p:spPr>
          <a:xfrm>
            <a:off x="6380626" y="3926421"/>
            <a:ext cx="291549" cy="2061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: para Baixo 32">
            <a:extLst>
              <a:ext uri="{FF2B5EF4-FFF2-40B4-BE49-F238E27FC236}">
                <a16:creationId xmlns:a16="http://schemas.microsoft.com/office/drawing/2014/main" id="{9341E43C-5D98-A819-BC00-237B6FBFA715}"/>
              </a:ext>
            </a:extLst>
          </p:cNvPr>
          <p:cNvSpPr/>
          <p:nvPr/>
        </p:nvSpPr>
        <p:spPr>
          <a:xfrm rot="3530237">
            <a:off x="9314264" y="3796818"/>
            <a:ext cx="203491" cy="1536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: Curva para a Esquerda 33">
            <a:extLst>
              <a:ext uri="{FF2B5EF4-FFF2-40B4-BE49-F238E27FC236}">
                <a16:creationId xmlns:a16="http://schemas.microsoft.com/office/drawing/2014/main" id="{A316AA64-56DC-7132-9B72-8DC9184C8551}"/>
              </a:ext>
            </a:extLst>
          </p:cNvPr>
          <p:cNvSpPr/>
          <p:nvPr/>
        </p:nvSpPr>
        <p:spPr>
          <a:xfrm rot="7790505">
            <a:off x="7331202" y="4420591"/>
            <a:ext cx="1082058" cy="140552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5" name="Seta: para Baixo 34">
            <a:extLst>
              <a:ext uri="{FF2B5EF4-FFF2-40B4-BE49-F238E27FC236}">
                <a16:creationId xmlns:a16="http://schemas.microsoft.com/office/drawing/2014/main" id="{11B72784-76E9-94A0-9654-66F40F3F60BF}"/>
              </a:ext>
            </a:extLst>
          </p:cNvPr>
          <p:cNvSpPr/>
          <p:nvPr/>
        </p:nvSpPr>
        <p:spPr>
          <a:xfrm rot="14253737">
            <a:off x="8261060" y="3667277"/>
            <a:ext cx="190124" cy="10258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Seta: para Baixo 35">
            <a:extLst>
              <a:ext uri="{FF2B5EF4-FFF2-40B4-BE49-F238E27FC236}">
                <a16:creationId xmlns:a16="http://schemas.microsoft.com/office/drawing/2014/main" id="{C1A658C1-A5AF-D32B-94A3-71979B4711FF}"/>
              </a:ext>
            </a:extLst>
          </p:cNvPr>
          <p:cNvSpPr/>
          <p:nvPr/>
        </p:nvSpPr>
        <p:spPr>
          <a:xfrm rot="16200000">
            <a:off x="9987329" y="2718148"/>
            <a:ext cx="214759" cy="25181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Fluxograma: Processo 36">
            <a:extLst>
              <a:ext uri="{FF2B5EF4-FFF2-40B4-BE49-F238E27FC236}">
                <a16:creationId xmlns:a16="http://schemas.microsoft.com/office/drawing/2014/main" id="{E9CFF662-F1E2-E166-1DB0-86A9C313641B}"/>
              </a:ext>
            </a:extLst>
          </p:cNvPr>
          <p:cNvSpPr/>
          <p:nvPr/>
        </p:nvSpPr>
        <p:spPr>
          <a:xfrm>
            <a:off x="4434840" y="1408176"/>
            <a:ext cx="3108960" cy="420624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LINHA 01 – FORNOS 01 E 02</a:t>
            </a:r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D7F56851-9313-027F-9F69-3D84FF9398AD}"/>
              </a:ext>
            </a:extLst>
          </p:cNvPr>
          <p:cNvSpPr/>
          <p:nvPr/>
        </p:nvSpPr>
        <p:spPr>
          <a:xfrm rot="12002787">
            <a:off x="4625470" y="3386949"/>
            <a:ext cx="182239" cy="9263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11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22" grpId="0" animBg="1"/>
      <p:bldP spid="27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2D24E-D56B-479F-EAF6-FF9810FE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65476-8F88-2174-27BA-93A6CC3A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974"/>
            <a:ext cx="10515600" cy="843797"/>
          </a:xfrm>
        </p:spPr>
        <p:txBody>
          <a:bodyPr/>
          <a:lstStyle/>
          <a:p>
            <a:r>
              <a:rPr lang="pt-BR" dirty="0"/>
              <a:t>Levantamentos de campo</a:t>
            </a:r>
          </a:p>
        </p:txBody>
      </p:sp>
      <p:sp>
        <p:nvSpPr>
          <p:cNvPr id="37" name="Fluxograma: Processo 36">
            <a:extLst>
              <a:ext uri="{FF2B5EF4-FFF2-40B4-BE49-F238E27FC236}">
                <a16:creationId xmlns:a16="http://schemas.microsoft.com/office/drawing/2014/main" id="{2BFCFB5E-5239-A69A-0E08-3B0399664492}"/>
              </a:ext>
            </a:extLst>
          </p:cNvPr>
          <p:cNvSpPr/>
          <p:nvPr/>
        </p:nvSpPr>
        <p:spPr>
          <a:xfrm>
            <a:off x="4063937" y="1408176"/>
            <a:ext cx="3132391" cy="41679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LINHA 02 – FORNOS 03 E 04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1A70E0D-F9B1-54E2-0D9C-002B9B37CB13}"/>
              </a:ext>
            </a:extLst>
          </p:cNvPr>
          <p:cNvGrpSpPr/>
          <p:nvPr/>
        </p:nvGrpSpPr>
        <p:grpSpPr>
          <a:xfrm>
            <a:off x="195943" y="2744398"/>
            <a:ext cx="3418115" cy="2904156"/>
            <a:chOff x="174171" y="2428711"/>
            <a:chExt cx="4539342" cy="3404507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356B94B2-FCFE-70ED-499D-D4A358BF7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71" y="2428711"/>
              <a:ext cx="4539342" cy="3404507"/>
            </a:xfrm>
            <a:prstGeom prst="rect">
              <a:avLst/>
            </a:prstGeom>
          </p:spPr>
        </p:pic>
        <p:sp>
          <p:nvSpPr>
            <p:cNvPr id="5" name="Seta: Dobrada 4">
              <a:extLst>
                <a:ext uri="{FF2B5EF4-FFF2-40B4-BE49-F238E27FC236}">
                  <a16:creationId xmlns:a16="http://schemas.microsoft.com/office/drawing/2014/main" id="{01195794-8389-9185-F3E6-40D95BE3F89C}"/>
                </a:ext>
              </a:extLst>
            </p:cNvPr>
            <p:cNvSpPr/>
            <p:nvPr/>
          </p:nvSpPr>
          <p:spPr>
            <a:xfrm>
              <a:off x="1491955" y="4664775"/>
              <a:ext cx="356616" cy="342899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6" name="Seta: Dobrada 5">
              <a:extLst>
                <a:ext uri="{FF2B5EF4-FFF2-40B4-BE49-F238E27FC236}">
                  <a16:creationId xmlns:a16="http://schemas.microsoft.com/office/drawing/2014/main" id="{6CB1C354-7308-AD44-D669-AD49ADCF4232}"/>
                </a:ext>
              </a:extLst>
            </p:cNvPr>
            <p:cNvSpPr/>
            <p:nvPr/>
          </p:nvSpPr>
          <p:spPr>
            <a:xfrm rot="10800000" flipV="1">
              <a:off x="1941141" y="4664776"/>
              <a:ext cx="356615" cy="342898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7" name="Seta: para Baixo 6">
              <a:extLst>
                <a:ext uri="{FF2B5EF4-FFF2-40B4-BE49-F238E27FC236}">
                  <a16:creationId xmlns:a16="http://schemas.microsoft.com/office/drawing/2014/main" id="{E2999773-81A7-E32D-6FFD-8953E733EC41}"/>
                </a:ext>
              </a:extLst>
            </p:cNvPr>
            <p:cNvSpPr/>
            <p:nvPr/>
          </p:nvSpPr>
          <p:spPr>
            <a:xfrm rot="12532899">
              <a:off x="1928318" y="4188988"/>
              <a:ext cx="231566" cy="63052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Seta: para Baixo 7">
              <a:extLst>
                <a:ext uri="{FF2B5EF4-FFF2-40B4-BE49-F238E27FC236}">
                  <a16:creationId xmlns:a16="http://schemas.microsoft.com/office/drawing/2014/main" id="{928168AD-4687-93E2-F072-817A4449A3BC}"/>
                </a:ext>
              </a:extLst>
            </p:cNvPr>
            <p:cNvSpPr/>
            <p:nvPr/>
          </p:nvSpPr>
          <p:spPr>
            <a:xfrm rot="16200000">
              <a:off x="2735300" y="3705293"/>
              <a:ext cx="248493" cy="118246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9" name="Imagem 8" descr="Torre de um prédio&#10;&#10;O conteúdo gerado por IA pode estar incorreto.">
            <a:extLst>
              <a:ext uri="{FF2B5EF4-FFF2-40B4-BE49-F238E27FC236}">
                <a16:creationId xmlns:a16="http://schemas.microsoft.com/office/drawing/2014/main" id="{7DEC8E61-9E07-5EDA-F8BC-C89F95899CE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7" y="2386464"/>
            <a:ext cx="2833878" cy="3882457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E5641949-7399-E3DB-C9C7-94A1786FA09D}"/>
              </a:ext>
            </a:extLst>
          </p:cNvPr>
          <p:cNvSpPr/>
          <p:nvPr/>
        </p:nvSpPr>
        <p:spPr>
          <a:xfrm>
            <a:off x="3683763" y="4224592"/>
            <a:ext cx="291549" cy="2061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C8F20DA7-F48A-BBCF-B0B0-302E2C613462}"/>
              </a:ext>
            </a:extLst>
          </p:cNvPr>
          <p:cNvSpPr/>
          <p:nvPr/>
        </p:nvSpPr>
        <p:spPr>
          <a:xfrm rot="3540817">
            <a:off x="5642788" y="3424864"/>
            <a:ext cx="163538" cy="15959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FAAB043E-692B-E059-BA72-AF3129F22CA1}"/>
              </a:ext>
            </a:extLst>
          </p:cNvPr>
          <p:cNvSpPr/>
          <p:nvPr/>
        </p:nvSpPr>
        <p:spPr>
          <a:xfrm rot="12002787">
            <a:off x="5062959" y="3685307"/>
            <a:ext cx="182239" cy="9263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06432E6-D189-2386-63E5-5C4755D3F62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484" y="597652"/>
            <a:ext cx="2761488" cy="207111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44F02F4-8097-E5C0-1A27-A6A8DEC791C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074" y="2743588"/>
            <a:ext cx="2544328" cy="1908246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B98D295B-342C-15EC-07DD-4F9C93AE638A}"/>
              </a:ext>
            </a:extLst>
          </p:cNvPr>
          <p:cNvSpPr/>
          <p:nvPr/>
        </p:nvSpPr>
        <p:spPr>
          <a:xfrm>
            <a:off x="7036400" y="4224592"/>
            <a:ext cx="291549" cy="2061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B496CC3-4905-8B7C-AD74-C5FFFB40935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923" y="4703801"/>
            <a:ext cx="2833878" cy="2125408"/>
          </a:xfrm>
          <a:prstGeom prst="rect">
            <a:avLst/>
          </a:prstGeom>
        </p:spPr>
      </p:pic>
      <p:sp>
        <p:nvSpPr>
          <p:cNvPr id="22" name="Seta: Dobrada 21">
            <a:extLst>
              <a:ext uri="{FF2B5EF4-FFF2-40B4-BE49-F238E27FC236}">
                <a16:creationId xmlns:a16="http://schemas.microsoft.com/office/drawing/2014/main" id="{D7CFA4FE-6A0F-A36E-A6C8-E73333640B95}"/>
              </a:ext>
            </a:extLst>
          </p:cNvPr>
          <p:cNvSpPr/>
          <p:nvPr/>
        </p:nvSpPr>
        <p:spPr>
          <a:xfrm>
            <a:off x="8039997" y="1824971"/>
            <a:ext cx="483517" cy="84379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FA80F08E-B791-89B5-BDC2-5C0EB86FF5BB}"/>
              </a:ext>
            </a:extLst>
          </p:cNvPr>
          <p:cNvSpPr/>
          <p:nvPr/>
        </p:nvSpPr>
        <p:spPr>
          <a:xfrm rot="16463424">
            <a:off x="9329682" y="1088330"/>
            <a:ext cx="367120" cy="18123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1343AAD6-5149-54F7-A296-C8E637E0E6A8}"/>
              </a:ext>
            </a:extLst>
          </p:cNvPr>
          <p:cNvSpPr/>
          <p:nvPr/>
        </p:nvSpPr>
        <p:spPr>
          <a:xfrm rot="15639166">
            <a:off x="10441390" y="2803475"/>
            <a:ext cx="325600" cy="21497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: Curva para a Esquerda 24">
            <a:extLst>
              <a:ext uri="{FF2B5EF4-FFF2-40B4-BE49-F238E27FC236}">
                <a16:creationId xmlns:a16="http://schemas.microsoft.com/office/drawing/2014/main" id="{FA1D260D-58A5-6674-97F5-50BCCFCE4E06}"/>
              </a:ext>
            </a:extLst>
          </p:cNvPr>
          <p:cNvSpPr/>
          <p:nvPr/>
        </p:nvSpPr>
        <p:spPr>
          <a:xfrm rot="16200000" flipH="1">
            <a:off x="9405147" y="5568634"/>
            <a:ext cx="383308" cy="68116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para Baixo 25">
            <a:extLst>
              <a:ext uri="{FF2B5EF4-FFF2-40B4-BE49-F238E27FC236}">
                <a16:creationId xmlns:a16="http://schemas.microsoft.com/office/drawing/2014/main" id="{71C86B3E-AE71-B654-11FE-8323B695308C}"/>
              </a:ext>
            </a:extLst>
          </p:cNvPr>
          <p:cNvSpPr/>
          <p:nvPr/>
        </p:nvSpPr>
        <p:spPr>
          <a:xfrm rot="16463424">
            <a:off x="8989248" y="5399927"/>
            <a:ext cx="180426" cy="5800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: para Baixo 26">
            <a:extLst>
              <a:ext uri="{FF2B5EF4-FFF2-40B4-BE49-F238E27FC236}">
                <a16:creationId xmlns:a16="http://schemas.microsoft.com/office/drawing/2014/main" id="{FFC20DD3-F419-F259-27B6-D4A9EC62E295}"/>
              </a:ext>
            </a:extLst>
          </p:cNvPr>
          <p:cNvSpPr/>
          <p:nvPr/>
        </p:nvSpPr>
        <p:spPr>
          <a:xfrm rot="5767270">
            <a:off x="9066231" y="5011631"/>
            <a:ext cx="222997" cy="10192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3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8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9A5D9-1F52-5BEC-9D6A-A448AC60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028F54-D486-5E22-5999-0340847E6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819B96-EAD7-4C51-7366-8EE8F9C9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484120" y="-1085850"/>
            <a:ext cx="6515100" cy="868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56B51A2-E81F-60D4-FCA7-24217277DCB6}"/>
              </a:ext>
            </a:extLst>
          </p:cNvPr>
          <p:cNvSpPr txBox="1"/>
          <p:nvPr/>
        </p:nvSpPr>
        <p:spPr>
          <a:xfrm>
            <a:off x="2011680" y="2388870"/>
            <a:ext cx="150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Fornos 1 e 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CAD860-5D82-2652-38E0-4205ECF92395}"/>
              </a:ext>
            </a:extLst>
          </p:cNvPr>
          <p:cNvSpPr txBox="1"/>
          <p:nvPr/>
        </p:nvSpPr>
        <p:spPr>
          <a:xfrm>
            <a:off x="2023110" y="1321356"/>
            <a:ext cx="150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Fornos 3 e 4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74AA668-F483-1AA1-F248-015F28AA9ED6}"/>
              </a:ext>
            </a:extLst>
          </p:cNvPr>
          <p:cNvCxnSpPr/>
          <p:nvPr/>
        </p:nvCxnSpPr>
        <p:spPr>
          <a:xfrm>
            <a:off x="2617470" y="1027906"/>
            <a:ext cx="6743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B09D863-DE68-2413-3456-5F22F5D481F7}"/>
              </a:ext>
            </a:extLst>
          </p:cNvPr>
          <p:cNvCxnSpPr>
            <a:cxnSpLocks/>
          </p:cNvCxnSpPr>
          <p:nvPr/>
        </p:nvCxnSpPr>
        <p:spPr>
          <a:xfrm>
            <a:off x="3291840" y="1053782"/>
            <a:ext cx="1760220" cy="116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E4426C-213B-444A-7502-8CB9BB74B6CB}"/>
              </a:ext>
            </a:extLst>
          </p:cNvPr>
          <p:cNvCxnSpPr/>
          <p:nvPr/>
        </p:nvCxnSpPr>
        <p:spPr>
          <a:xfrm>
            <a:off x="2392680" y="1805781"/>
            <a:ext cx="6743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018C531-3C27-30CB-FCAA-97205E96F97A}"/>
              </a:ext>
            </a:extLst>
          </p:cNvPr>
          <p:cNvCxnSpPr>
            <a:cxnSpLocks/>
          </p:cNvCxnSpPr>
          <p:nvPr/>
        </p:nvCxnSpPr>
        <p:spPr>
          <a:xfrm>
            <a:off x="3028950" y="1799590"/>
            <a:ext cx="1931671" cy="626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53C24856-5577-695A-7BAB-54303411DBD6}"/>
              </a:ext>
            </a:extLst>
          </p:cNvPr>
          <p:cNvCxnSpPr/>
          <p:nvPr/>
        </p:nvCxnSpPr>
        <p:spPr>
          <a:xfrm flipV="1">
            <a:off x="6355080" y="2573536"/>
            <a:ext cx="0" cy="581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EE63CCEA-0B8B-BDAF-0FBB-F9200A37B4A9}"/>
              </a:ext>
            </a:extLst>
          </p:cNvPr>
          <p:cNvCxnSpPr>
            <a:cxnSpLocks/>
          </p:cNvCxnSpPr>
          <p:nvPr/>
        </p:nvCxnSpPr>
        <p:spPr>
          <a:xfrm>
            <a:off x="6355080" y="2573536"/>
            <a:ext cx="2537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BF7D6AE-65C0-D940-2655-59171CBF1225}"/>
              </a:ext>
            </a:extLst>
          </p:cNvPr>
          <p:cNvCxnSpPr>
            <a:cxnSpLocks/>
          </p:cNvCxnSpPr>
          <p:nvPr/>
        </p:nvCxnSpPr>
        <p:spPr>
          <a:xfrm flipH="1" flipV="1">
            <a:off x="8778240" y="1321356"/>
            <a:ext cx="106680" cy="1252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1A2487B1-ED73-3BCF-BA84-E93B6F656A6D}"/>
              </a:ext>
            </a:extLst>
          </p:cNvPr>
          <p:cNvCxnSpPr/>
          <p:nvPr/>
        </p:nvCxnSpPr>
        <p:spPr>
          <a:xfrm>
            <a:off x="8778240" y="1321356"/>
            <a:ext cx="6743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4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CF9B1-9D2D-7325-EFCA-5CB360D3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CE4EE2-97EC-5B52-404F-7CC71670B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3"/>
          <a:stretch>
            <a:fillRect/>
          </a:stretch>
        </p:blipFill>
        <p:spPr bwMode="auto">
          <a:xfrm rot="16200000">
            <a:off x="2801112" y="-905383"/>
            <a:ext cx="6109716" cy="868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03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73918-34AA-A4BD-3272-744A8DDB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78E4ED-4599-BE15-94E9-CA3128A88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715576" y="-1126807"/>
            <a:ext cx="6760847" cy="901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E35B1FA-26A2-B326-A969-2B180C249748}"/>
              </a:ext>
            </a:extLst>
          </p:cNvPr>
          <p:cNvSpPr txBox="1"/>
          <p:nvPr/>
        </p:nvSpPr>
        <p:spPr>
          <a:xfrm>
            <a:off x="2411730" y="258318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Área externa </a:t>
            </a:r>
          </a:p>
        </p:txBody>
      </p:sp>
    </p:spTree>
    <p:extLst>
      <p:ext uri="{BB962C8B-B14F-4D97-AF65-F5344CB8AC3E}">
        <p14:creationId xmlns:p14="http://schemas.microsoft.com/office/powerpoint/2010/main" val="414759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CFD4A-8B54-123C-0622-053C75AA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84636D7-91E7-89DE-50B4-C7C3F1CE7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75096" y="-1199674"/>
            <a:ext cx="6906578" cy="9208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26DA24CA-7E7E-3388-C568-EDFD45D48CB4}"/>
              </a:ext>
            </a:extLst>
          </p:cNvPr>
          <p:cNvCxnSpPr/>
          <p:nvPr/>
        </p:nvCxnSpPr>
        <p:spPr>
          <a:xfrm>
            <a:off x="3166110" y="2983230"/>
            <a:ext cx="925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586FD3E-8FA4-F58B-FAC5-69B5CFA79BF2}"/>
              </a:ext>
            </a:extLst>
          </p:cNvPr>
          <p:cNvCxnSpPr>
            <a:cxnSpLocks/>
          </p:cNvCxnSpPr>
          <p:nvPr/>
        </p:nvCxnSpPr>
        <p:spPr>
          <a:xfrm>
            <a:off x="4217670" y="2983230"/>
            <a:ext cx="2251710" cy="1154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42581EA-A686-7B45-F9CB-F2F5B3350326}"/>
              </a:ext>
            </a:extLst>
          </p:cNvPr>
          <p:cNvCxnSpPr/>
          <p:nvPr/>
        </p:nvCxnSpPr>
        <p:spPr>
          <a:xfrm>
            <a:off x="6469380" y="4137660"/>
            <a:ext cx="33261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0B3A446-2F01-597A-E63E-7C2F0581B5AC}"/>
              </a:ext>
            </a:extLst>
          </p:cNvPr>
          <p:cNvSpPr txBox="1"/>
          <p:nvPr/>
        </p:nvSpPr>
        <p:spPr>
          <a:xfrm>
            <a:off x="2998470" y="1136691"/>
            <a:ext cx="309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Fornos 3 e 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B04A0DB-3157-EE98-F05E-CB93DA7BCFE3}"/>
              </a:ext>
            </a:extLst>
          </p:cNvPr>
          <p:cNvSpPr txBox="1"/>
          <p:nvPr/>
        </p:nvSpPr>
        <p:spPr>
          <a:xfrm>
            <a:off x="6560820" y="5314950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Spray 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1B14C1A-64EB-8C86-2AE0-F2F5953C5E61}"/>
              </a:ext>
            </a:extLst>
          </p:cNvPr>
          <p:cNvSpPr txBox="1"/>
          <p:nvPr/>
        </p:nvSpPr>
        <p:spPr>
          <a:xfrm>
            <a:off x="9281160" y="5322332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Spray 2</a:t>
            </a:r>
          </a:p>
        </p:txBody>
      </p:sp>
    </p:spTree>
    <p:extLst>
      <p:ext uri="{BB962C8B-B14F-4D97-AF65-F5344CB8AC3E}">
        <p14:creationId xmlns:p14="http://schemas.microsoft.com/office/powerpoint/2010/main" val="209845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6269C-6D4D-ABCF-D4F6-0BD39983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1C4D6F4-E528-9F10-ED19-21C41D0D13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11"/>
          <a:stretch>
            <a:fillRect/>
          </a:stretch>
        </p:blipFill>
        <p:spPr bwMode="auto">
          <a:xfrm rot="16200000">
            <a:off x="3014128" y="-1635477"/>
            <a:ext cx="6887643" cy="1010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8321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a9c6bc5-92dc-4cf8-8aa7-3508258fbd06}" enabled="1" method="Standard" siteId="{57368c21-b8cf-42cf-bd0b-43ecd4bc62a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229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Tema do Office</vt:lpstr>
      <vt:lpstr>Levantamentos de campo</vt:lpstr>
      <vt:lpstr>Levantamentos de campo</vt:lpstr>
      <vt:lpstr>Levantamentos de campo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Levantamentos de campo</dc:title>
  <dc:creator>Guilherme Gaspardo Baptista</dc:creator>
  <cp:lastModifiedBy>vilhenawindow12@hotmail.com</cp:lastModifiedBy>
  <cp:revision>2</cp:revision>
  <dcterms:created xsi:type="dcterms:W3CDTF">2026-07-15T13:23:02Z</dcterms:created>
  <dcterms:modified xsi:type="dcterms:W3CDTF">2026-09-17T18:30:40Z</dcterms:modified>
</cp:coreProperties>
</file>